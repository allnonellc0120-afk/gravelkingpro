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0040" name="TextBox"/>
          <p:cNvSpPr/>
          <p:nvPr/>
        </p:nvSpPr>
        <p:spPr>
          <a:xfrm>
            <a:off x="650000" y="42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00" b="1">
                <a:solidFill>
                  <a:srgbClr val="67E8F9"/>
                </a:solidFill>
                <a:latin typeface="Aptos Display"/>
              </a:rPr>
              <a:t>THE JOEL MEETING</a:t>
            </a:r>
          </a:p>
        </p:txBody>
      </p:sp>
      <p:sp>
        <p:nvSpPr>
          <p:cNvPr id="73079" name="TextBox"/>
          <p:cNvSpPr/>
          <p:nvPr/>
        </p:nvSpPr>
        <p:spPr>
          <a:xfrm>
            <a:off x="650000" y="850000"/>
            <a:ext cx="9000000" cy="1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700" b="1">
                <a:solidFill>
                  <a:srgbClr val="FFFFFF"/>
                </a:solidFill>
                <a:latin typeface="Aptos Display"/>
              </a:rPr>
              <a:t>The core is tested.</a:t>
            </a:r>
          </a:p>
          <a:p>
            <a:pPr algn="l"/>
            <a:r>
              <a:rPr lang="en-US" sz="3700" b="1">
                <a:solidFill>
                  <a:srgbClr val="FFFFFF"/>
                </a:solidFill>
                <a:latin typeface="Aptos Display"/>
              </a:rPr>
              <a:t>The partner handoff is the decision.</a:t>
            </a:r>
          </a:p>
        </p:txBody>
      </p:sp>
      <p:sp>
        <p:nvSpPr>
          <p:cNvPr id="60406" name="TextBox"/>
          <p:cNvSpPr/>
          <p:nvPr/>
        </p:nvSpPr>
        <p:spPr>
          <a:xfrm>
            <a:off x="680000" y="2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50" b="0">
                <a:solidFill>
                  <a:srgbClr val="CBD5E1"/>
                </a:solidFill>
                <a:latin typeface="Aptos"/>
              </a:rPr>
              <a:t>GravelKing Pro  •  Morris Law Kernel v3.5  •  August 4, 2026</a:t>
            </a:r>
          </a:p>
        </p:txBody>
      </p:sp>
      <p:sp>
        <p:nvSpPr>
          <p:cNvPr id="650010" name="MetricCard"/>
          <p:cNvSpPr/>
          <p:nvPr/>
        </p:nvSpPr>
        <p:spPr>
          <a:xfrm>
            <a:off x="650000" y="3300000"/>
            <a:ext cx="2200000" cy="1350000"/>
          </a:xfrm>
          <a:prstGeom prst="roundRect">
            <a:avLst/>
          </a:prstGeom>
          <a:solidFill>
            <a:srgbClr val="F0FDF4"/>
          </a:solidFill>
          <a:ln w="10000">
            <a:solidFill>
              <a:srgbClr val="CBD5E1"/>
            </a:solidFill>
          </a:ln>
        </p:spPr>
      </p:sp>
      <p:sp>
        <p:nvSpPr>
          <p:cNvPr id="14609" name="TextBox"/>
          <p:cNvSpPr/>
          <p:nvPr/>
        </p:nvSpPr>
        <p:spPr>
          <a:xfrm>
            <a:off x="750000" y="355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000" b="1">
                <a:solidFill>
                  <a:srgbClr val="0B132B"/>
                </a:solidFill>
                <a:latin typeface="Aptos Display"/>
              </a:rPr>
              <a:t>1,000 / 1,000</a:t>
            </a:r>
          </a:p>
        </p:txBody>
      </p:sp>
      <p:sp>
        <p:nvSpPr>
          <p:cNvPr id="90176" name="TextBox"/>
          <p:cNvSpPr/>
          <p:nvPr/>
        </p:nvSpPr>
        <p:spPr>
          <a:xfrm>
            <a:off x="750000" y="40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250" b="0">
                <a:solidFill>
                  <a:srgbClr val="475569"/>
                </a:solidFill>
                <a:latin typeface="Aptos"/>
              </a:rPr>
              <a:t>health checks • HTTP 200</a:t>
            </a:r>
          </a:p>
        </p:txBody>
      </p:sp>
      <p:sp>
        <p:nvSpPr>
          <p:cNvPr id="3150010" name="MetricCard"/>
          <p:cNvSpPr/>
          <p:nvPr/>
        </p:nvSpPr>
        <p:spPr>
          <a:xfrm>
            <a:off x="3150000" y="3300000"/>
            <a:ext cx="2200000" cy="1350000"/>
          </a:xfrm>
          <a:prstGeom prst="roundRect">
            <a:avLst/>
          </a:prstGeom>
          <a:solidFill>
            <a:srgbClr val="F0FDF4"/>
          </a:solidFill>
          <a:ln w="10000">
            <a:solidFill>
              <a:srgbClr val="CBD5E1"/>
            </a:solidFill>
          </a:ln>
        </p:spPr>
      </p:sp>
      <p:sp>
        <p:nvSpPr>
          <p:cNvPr id="33137" name="TextBox"/>
          <p:cNvSpPr/>
          <p:nvPr/>
        </p:nvSpPr>
        <p:spPr>
          <a:xfrm>
            <a:off x="3250000" y="355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000" b="1">
                <a:solidFill>
                  <a:srgbClr val="0B132B"/>
                </a:solidFill>
                <a:latin typeface="Aptos Display"/>
              </a:rPr>
              <a:t>500 / 500</a:t>
            </a:r>
          </a:p>
        </p:txBody>
      </p:sp>
      <p:sp>
        <p:nvSpPr>
          <p:cNvPr id="28167" name="TextBox"/>
          <p:cNvSpPr/>
          <p:nvPr/>
        </p:nvSpPr>
        <p:spPr>
          <a:xfrm>
            <a:off x="3250000" y="40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250" b="0">
                <a:solidFill>
                  <a:srgbClr val="475569"/>
                </a:solidFill>
                <a:latin typeface="Aptos"/>
              </a:rPr>
              <a:t>MLK v3 requests • HTTP 200</a:t>
            </a:r>
          </a:p>
        </p:txBody>
      </p:sp>
      <p:sp>
        <p:nvSpPr>
          <p:cNvPr id="5650010" name="MetricCard"/>
          <p:cNvSpPr/>
          <p:nvPr/>
        </p:nvSpPr>
        <p:spPr>
          <a:xfrm>
            <a:off x="5650000" y="3300000"/>
            <a:ext cx="2200000" cy="1350000"/>
          </a:xfrm>
          <a:prstGeom prst="roundRect">
            <a:avLst/>
          </a:prstGeom>
          <a:solidFill>
            <a:srgbClr val="F0FDF4"/>
          </a:solidFill>
          <a:ln w="10000">
            <a:solidFill>
              <a:srgbClr val="CBD5E1"/>
            </a:solidFill>
          </a:ln>
        </p:spPr>
      </p:sp>
      <p:sp>
        <p:nvSpPr>
          <p:cNvPr id="62078" name="TextBox"/>
          <p:cNvSpPr/>
          <p:nvPr/>
        </p:nvSpPr>
        <p:spPr>
          <a:xfrm>
            <a:off x="5750000" y="355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000" b="1">
                <a:solidFill>
                  <a:srgbClr val="0B132B"/>
                </a:solidFill>
                <a:latin typeface="Aptos Display"/>
              </a:rPr>
              <a:t>74 / 74</a:t>
            </a:r>
          </a:p>
        </p:txBody>
      </p:sp>
      <p:sp>
        <p:nvSpPr>
          <p:cNvPr id="97396" name="TextBox"/>
          <p:cNvSpPr/>
          <p:nvPr/>
        </p:nvSpPr>
        <p:spPr>
          <a:xfrm>
            <a:off x="5750000" y="406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250" b="0">
                <a:solidFill>
                  <a:srgbClr val="475569"/>
                </a:solidFill>
                <a:latin typeface="Aptos"/>
              </a:rPr>
              <a:t>automated API checks passed</a:t>
            </a:r>
          </a:p>
        </p:txBody>
      </p:sp>
      <p:sp>
        <p:nvSpPr>
          <p:cNvPr id="72739" name="TextBox"/>
          <p:cNvSpPr/>
          <p:nvPr/>
        </p:nvSpPr>
        <p:spPr>
          <a:xfrm>
            <a:off x="650000" y="50000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750" b="1">
                <a:solidFill>
                  <a:srgbClr val="67E8F9"/>
                </a:solidFill>
                <a:latin typeface="Aptos Display"/>
              </a:rPr>
              <a:t>The honest close</a:t>
            </a:r>
          </a:p>
        </p:txBody>
      </p:sp>
      <p:sp>
        <p:nvSpPr>
          <p:cNvPr id="1225" name="TextBox"/>
          <p:cNvSpPr/>
          <p:nvPr/>
        </p:nvSpPr>
        <p:spPr>
          <a:xfrm>
            <a:off x="650000" y="5350000"/>
            <a:ext cx="105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900" b="0">
                <a:solidFill>
                  <a:srgbClr val="FFFFFF"/>
                </a:solidFill>
                <a:latin typeface="Aptos"/>
              </a:rPr>
              <a:t>Controlled load is green. Current mastering is capped at 3 concurrent jobs. Before credentials: publish /api/v1/ingest, hard-gate x-api-key, run one real production smoke test, then pilot 10 → 50 → 100 tracks before promising a 500-track queue.</a:t>
            </a:r>
          </a:p>
        </p:txBody>
      </p:sp>
      <p:sp>
        <p:nvSpPr>
          <p:cNvPr id="12383" name="TextBox"/>
          <p:cNvSpPr/>
          <p:nvPr/>
        </p:nvSpPr>
        <p:spPr>
          <a:xfrm>
            <a:off x="650000" y="6350000"/>
            <a:ext cx="10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 b="0">
                <a:solidFill>
                  <a:srgbClr val="CBD5E1"/>
                </a:solidFill>
                <a:latin typeface="Aptos"/>
              </a:rPr>
              <a:t>Opening line: “I can show you what is measured, what is protected, and exactly what we will validate next.”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velKing">
  <a:themeElements>
    <a:clrScheme name="GravelKing">
      <a:dk1>
        <a:srgbClr val="0B132B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06B6D4"/>
      </a:accent2>
      <a:accent3>
        <a:srgbClr val="16A34A"/>
      </a:accent3>
      <a:accent4>
        <a:srgbClr val="D97706"/>
      </a:accent4>
      <a:accent5>
        <a:srgbClr val="DC2626"/>
      </a:accent5>
      <a:accent6>
        <a:srgbClr val="CBD5E1"/>
      </a:accent6>
      <a:hlink>
        <a:srgbClr val="2563EB"/>
      </a:hlink>
      <a:folHlink>
        <a:srgbClr val="7C3AED"/>
      </a:folHlink>
    </a:clrScheme>
    <a:fontScheme name="GravelKing">
      <a:majorFont>
        <a:latin typeface="Aptos Display"/>
      </a:majorFont>
      <a:minorFont>
        <a:latin typeface="Aptos"/>
      </a:minorFont>
    </a:fontScheme>
    <a:fmtScheme name="GravelKing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GravelKing Productions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Joel Meeting Opening — GravelKing Pro API</dc:title>
  <dc:creator>GravelKing Productions</dc:creator>
  <dc:date>2026-08-04T00:00:00Z</dc:date>
</cp:coreProperties>
</file>